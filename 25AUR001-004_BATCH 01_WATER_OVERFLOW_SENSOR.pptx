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9" r:id="rId3"/>
    <p:sldId id="275" r:id="rId4"/>
    <p:sldId id="264" r:id="rId5"/>
    <p:sldId id="276" r:id="rId6"/>
    <p:sldId id="268" r:id="rId7"/>
    <p:sldId id="277" r:id="rId8"/>
    <p:sldId id="266" r:id="rId9"/>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39">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qaEJF3Jv29g/oR/va8+a7sQBm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1DBE5D-E312-4B21-9E5E-1AE7C8B9E3E7}">
  <a:tblStyle styleId="{491DBE5D-E312-4B21-9E5E-1AE7C8B9E3E7}"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43"/>
      </p:cViewPr>
      <p:guideLst>
        <p:guide orient="horz" pos="2939"/>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017718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42" name="Google Shape;42;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8914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934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9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706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3097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2148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1220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18" name="Google Shape;118;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8304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12"/>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2"/>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1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1"/>
          <p:cNvPicPr preferRelativeResize="0"/>
          <p:nvPr/>
        </p:nvPicPr>
        <p:blipFill rotWithShape="1">
          <a:blip r:embed="rId6">
            <a:alphaModFix/>
          </a:blip>
          <a:srcRect/>
          <a:stretch/>
        </p:blipFill>
        <p:spPr>
          <a:xfrm>
            <a:off x="0" y="0"/>
            <a:ext cx="12191999" cy="6857999"/>
          </a:xfrm>
          <a:prstGeom prst="rect">
            <a:avLst/>
          </a:prstGeom>
          <a:noFill/>
          <a:ln>
            <a:noFill/>
          </a:ln>
        </p:spPr>
      </p:pic>
      <p:sp>
        <p:nvSpPr>
          <p:cNvPr id="7" name="Google Shape;7;p11"/>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1"/>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1"/>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pic>
        <p:nvPicPr>
          <p:cNvPr id="44" name="Google Shape;44;p1"/>
          <p:cNvPicPr preferRelativeResize="0"/>
          <p:nvPr/>
        </p:nvPicPr>
        <p:blipFill rotWithShape="1">
          <a:blip r:embed="rId3">
            <a:alphaModFix/>
          </a:blip>
          <a:srcRect/>
          <a:stretch/>
        </p:blipFill>
        <p:spPr>
          <a:xfrm>
            <a:off x="0" y="-9288"/>
            <a:ext cx="12192000" cy="6858000"/>
          </a:xfrm>
          <a:prstGeom prst="rect">
            <a:avLst/>
          </a:prstGeom>
          <a:noFill/>
          <a:ln>
            <a:noFill/>
          </a:ln>
        </p:spPr>
      </p:pic>
      <p:sp>
        <p:nvSpPr>
          <p:cNvPr id="45" name="Google Shape;45;p1"/>
          <p:cNvSpPr txBox="1"/>
          <p:nvPr/>
        </p:nvSpPr>
        <p:spPr>
          <a:xfrm>
            <a:off x="2146300" y="2544325"/>
            <a:ext cx="10045700" cy="751488"/>
          </a:xfrm>
          <a:prstGeom prst="rect">
            <a:avLst/>
          </a:prstGeom>
          <a:noFill/>
          <a:ln>
            <a:noFill/>
          </a:ln>
        </p:spPr>
        <p:txBody>
          <a:bodyPr spcFirstLastPara="1" wrap="square" lIns="0" tIns="12700" rIns="0" bIns="0" anchor="t" anchorCtr="0">
            <a:spAutoFit/>
          </a:bodyPr>
          <a:lstStyle/>
          <a:p>
            <a:pPr marR="5080" lvl="0" algn="ctr" rtl="0">
              <a:lnSpc>
                <a:spcPct val="100000"/>
              </a:lnSpc>
              <a:spcBef>
                <a:spcPts val="0"/>
              </a:spcBef>
              <a:spcAft>
                <a:spcPts val="0"/>
              </a:spcAft>
              <a:buClr>
                <a:srgbClr val="000000"/>
              </a:buClr>
              <a:buSzPts val="2400"/>
              <a:buFont typeface="Arial"/>
              <a:buNone/>
            </a:pPr>
            <a:r>
              <a:rPr lang="en-US" sz="2400" b="0" i="0" u="none" strike="noStrike" cap="none" dirty="0">
                <a:solidFill>
                  <a:srgbClr val="FF0000"/>
                </a:solidFill>
                <a:latin typeface="Times New Roman" panose="02020603050405020304" pitchFamily="18" charset="0"/>
                <a:cs typeface="Times New Roman" panose="02020603050405020304" pitchFamily="18" charset="0"/>
                <a:sym typeface="Arial"/>
              </a:rPr>
              <a:t>DEPARTMENT OF ELECTRONICS AND COMMUNICATION ENGINEERING</a:t>
            </a:r>
            <a:endParaRPr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grpSp>
        <p:nvGrpSpPr>
          <p:cNvPr id="46" name="Google Shape;46;p1"/>
          <p:cNvGrpSpPr/>
          <p:nvPr/>
        </p:nvGrpSpPr>
        <p:grpSpPr>
          <a:xfrm>
            <a:off x="220205" y="1294727"/>
            <a:ext cx="1708370" cy="5091495"/>
            <a:chOff x="190553" y="1212849"/>
            <a:chExt cx="1813556" cy="5206028"/>
          </a:xfrm>
        </p:grpSpPr>
        <p:pic>
          <p:nvPicPr>
            <p:cNvPr id="47" name="Google Shape;47;p1"/>
            <p:cNvPicPr preferRelativeResize="0"/>
            <p:nvPr/>
          </p:nvPicPr>
          <p:blipFill rotWithShape="1">
            <a:blip r:embed="rId4">
              <a:alphaModFix/>
            </a:blip>
            <a:srcRect/>
            <a:stretch/>
          </p:blipFill>
          <p:spPr>
            <a:xfrm>
              <a:off x="629861" y="1212849"/>
              <a:ext cx="1374248" cy="1066799"/>
            </a:xfrm>
            <a:prstGeom prst="rect">
              <a:avLst/>
            </a:prstGeom>
            <a:noFill/>
            <a:ln>
              <a:noFill/>
            </a:ln>
          </p:spPr>
        </p:pic>
        <p:pic>
          <p:nvPicPr>
            <p:cNvPr id="48" name="Google Shape;48;p1"/>
            <p:cNvPicPr preferRelativeResize="0"/>
            <p:nvPr/>
          </p:nvPicPr>
          <p:blipFill rotWithShape="1">
            <a:blip r:embed="rId5">
              <a:alphaModFix/>
            </a:blip>
            <a:srcRect/>
            <a:stretch/>
          </p:blipFill>
          <p:spPr>
            <a:xfrm>
              <a:off x="190553" y="4840809"/>
              <a:ext cx="1098142" cy="1578067"/>
            </a:xfrm>
            <a:prstGeom prst="rect">
              <a:avLst/>
            </a:prstGeom>
            <a:noFill/>
            <a:ln>
              <a:noFill/>
            </a:ln>
          </p:spPr>
        </p:pic>
      </p:grpSp>
      <p:sp>
        <p:nvSpPr>
          <p:cNvPr id="49" name="Google Shape;49;p1"/>
          <p:cNvSpPr txBox="1"/>
          <p:nvPr/>
        </p:nvSpPr>
        <p:spPr>
          <a:xfrm>
            <a:off x="3311251" y="4648199"/>
            <a:ext cx="3822600" cy="139781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PRESENTED BY</a:t>
            </a: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1270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panose="02020603050405020304" pitchFamily="18" charset="0"/>
                <a:cs typeface="Times New Roman" panose="02020603050405020304" pitchFamily="18" charset="0"/>
              </a:rPr>
              <a:t>25AUR001-ABIJITH .K.A</a:t>
            </a:r>
            <a:endParaRPr lang="en-US" sz="180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25AUR002-ASWIN .V</a:t>
            </a: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25AUR003-DEEPESH .P.S</a:t>
            </a: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25AUR004-DEEPIHAA .S</a:t>
            </a:r>
          </a:p>
        </p:txBody>
      </p:sp>
      <p:sp>
        <p:nvSpPr>
          <p:cNvPr id="50" name="Google Shape;50;p1"/>
          <p:cNvSpPr txBox="1"/>
          <p:nvPr/>
        </p:nvSpPr>
        <p:spPr>
          <a:xfrm>
            <a:off x="10844949" y="6506676"/>
            <a:ext cx="3927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1</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52" name="Google Shape;52;p1"/>
          <p:cNvSpPr txBox="1"/>
          <p:nvPr/>
        </p:nvSpPr>
        <p:spPr>
          <a:xfrm>
            <a:off x="9190448" y="5636030"/>
            <a:ext cx="188790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panose="02020603050405020304" pitchFamily="18" charset="0"/>
                <a:cs typeface="Times New Roman" panose="02020603050405020304" pitchFamily="18" charset="0"/>
                <a:sym typeface="Arial"/>
              </a:rPr>
              <a:t>DATE: </a:t>
            </a:r>
            <a:r>
              <a:rPr lang="en-US" sz="1800" dirty="0">
                <a:solidFill>
                  <a:schemeClr val="dk1"/>
                </a:solidFill>
                <a:latin typeface="Times New Roman" panose="02020603050405020304" pitchFamily="18" charset="0"/>
                <a:cs typeface="Times New Roman" panose="02020603050405020304" pitchFamily="18" charset="0"/>
              </a:rPr>
              <a:t>12</a:t>
            </a:r>
            <a:r>
              <a:rPr lang="en-US" sz="1800" b="0" i="0" u="none" strike="noStrike" cap="none" dirty="0">
                <a:solidFill>
                  <a:schemeClr val="dk1"/>
                </a:solidFill>
                <a:latin typeface="Times New Roman" panose="02020603050405020304" pitchFamily="18" charset="0"/>
                <a:cs typeface="Times New Roman" panose="02020603050405020304" pitchFamily="18" charset="0"/>
                <a:sym typeface="Arial"/>
              </a:rPr>
              <a:t>.11.2025</a:t>
            </a: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53" name="Google Shape;53;p1"/>
          <p:cNvSpPr txBox="1"/>
          <p:nvPr/>
        </p:nvSpPr>
        <p:spPr>
          <a:xfrm>
            <a:off x="2645948" y="3419712"/>
            <a:ext cx="8828151" cy="11049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 22GCL12 – FOUNDATION LAB </a:t>
            </a:r>
            <a:r>
              <a:rPr lang="en-US" sz="1800" b="1" dirty="0">
                <a:solidFill>
                  <a:schemeClr val="dk1"/>
                </a:solidFill>
                <a:latin typeface="Times New Roman" panose="02020603050405020304" pitchFamily="18" charset="0"/>
                <a:cs typeface="Times New Roman" panose="02020603050405020304" pitchFamily="18" charset="0"/>
              </a:rPr>
              <a:t>– Electrical, IoT and Web</a:t>
            </a:r>
          </a:p>
          <a:p>
            <a:pPr marL="1270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(Internet of Things)</a:t>
            </a:r>
            <a:endParaRPr lang="en-US"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6858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54" name="Google Shape;54;p1"/>
          <p:cNvSpPr txBox="1">
            <a:spLocks noGrp="1"/>
          </p:cNvSpPr>
          <p:nvPr>
            <p:ph type="title"/>
          </p:nvPr>
        </p:nvSpPr>
        <p:spPr>
          <a:xfrm>
            <a:off x="2146300" y="255047"/>
            <a:ext cx="10045700" cy="1354200"/>
          </a:xfrm>
          <a:prstGeom prst="rect">
            <a:avLst/>
          </a:prstGeom>
          <a:noFill/>
          <a:ln>
            <a:noFill/>
          </a:ln>
        </p:spPr>
        <p:txBody>
          <a:bodyPr spcFirstLastPara="1" wrap="square" lIns="0" tIns="12700" rIns="0" bIns="0" anchor="t" anchorCtr="0">
            <a:noAutofit/>
          </a:bodyPr>
          <a:lstStyle/>
          <a:p>
            <a:pPr marL="12700" lvl="0" algn="ctr"/>
            <a:br>
              <a:rPr lang="en-US" sz="2800" b="1" dirty="0">
                <a:solidFill>
                  <a:srgbClr val="0B5394"/>
                </a:solidFill>
                <a:latin typeface="Times New Roman"/>
                <a:ea typeface="Times New Roman"/>
                <a:cs typeface="Times New Roman"/>
                <a:sym typeface="Times New Roman"/>
              </a:rPr>
            </a:br>
            <a:r>
              <a:rPr lang="en-US" sz="2800" b="1" dirty="0">
                <a:solidFill>
                  <a:srgbClr val="0B5394"/>
                </a:solidFill>
                <a:latin typeface="Times New Roman"/>
                <a:ea typeface="Times New Roman"/>
                <a:cs typeface="Times New Roman"/>
                <a:sym typeface="Times New Roman"/>
              </a:rPr>
              <a:t>WATER OVERFLOW SENSOR</a:t>
            </a:r>
            <a:br>
              <a:rPr lang="en-US" sz="2800" b="1" dirty="0">
                <a:solidFill>
                  <a:srgbClr val="0B5394"/>
                </a:solidFill>
                <a:latin typeface="Times New Roman"/>
                <a:ea typeface="Times New Roman"/>
                <a:cs typeface="Times New Roman"/>
                <a:sym typeface="Times New Roman"/>
              </a:rPr>
            </a:br>
            <a:r>
              <a:rPr lang="en-US" sz="2800" b="1" dirty="0">
                <a:solidFill>
                  <a:srgbClr val="0B5394"/>
                </a:solidFill>
                <a:latin typeface="Times New Roman"/>
                <a:ea typeface="Times New Roman"/>
                <a:cs typeface="Times New Roman"/>
                <a:sym typeface="Times New Roman"/>
              </a:rPr>
              <a:t>AND</a:t>
            </a:r>
            <a:br>
              <a:rPr lang="en-US" sz="2800" b="1" dirty="0">
                <a:solidFill>
                  <a:srgbClr val="0B5394"/>
                </a:solidFill>
                <a:latin typeface="Times New Roman"/>
                <a:ea typeface="Times New Roman"/>
                <a:cs typeface="Times New Roman"/>
                <a:sym typeface="Times New Roman"/>
              </a:rPr>
            </a:br>
            <a:r>
              <a:rPr lang="en-US" sz="2800" b="1" dirty="0">
                <a:solidFill>
                  <a:srgbClr val="0B5394"/>
                </a:solidFill>
                <a:latin typeface="Times New Roman"/>
                <a:ea typeface="Times New Roman"/>
                <a:cs typeface="Times New Roman"/>
                <a:sym typeface="Times New Roman"/>
              </a:rPr>
              <a:t>COLOUR SENSOR DETECTOR</a:t>
            </a:r>
            <a:br>
              <a:rPr lang="en-US" sz="2800" b="1" dirty="0">
                <a:solidFill>
                  <a:srgbClr val="0B5394"/>
                </a:solidFill>
                <a:latin typeface="Times New Roman"/>
                <a:ea typeface="Times New Roman"/>
                <a:cs typeface="Times New Roman"/>
                <a:sym typeface="Times New Roman"/>
              </a:rPr>
            </a:br>
            <a:br>
              <a:rPr lang="en-US" sz="2800" b="1" dirty="0">
                <a:solidFill>
                  <a:srgbClr val="0B5394"/>
                </a:solidFill>
                <a:latin typeface="Times New Roman"/>
                <a:ea typeface="Times New Roman"/>
                <a:cs typeface="Times New Roman"/>
                <a:sym typeface="Times New Roman"/>
              </a:rPr>
            </a:br>
            <a:endParaRPr sz="28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4957200" y="528476"/>
            <a:ext cx="2277600" cy="5055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OBJECTIVE</a:t>
            </a:r>
            <a:endParaRPr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2</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152031" y="1459757"/>
            <a:ext cx="10647600" cy="3928320"/>
          </a:xfrm>
          <a:prstGeom prst="rect">
            <a:avLst/>
          </a:prstGeom>
          <a:noFill/>
          <a:ln>
            <a:noFill/>
          </a:ln>
        </p:spPr>
        <p:txBody>
          <a:bodyPr spcFirstLastPara="1" wrap="square" lIns="0" tIns="12700" rIns="0" bIns="0" anchor="t" anchorCtr="0">
            <a:noAutofit/>
          </a:bodyPr>
          <a:lstStyle/>
          <a:p>
            <a:pPr marL="443865" lvl="0" indent="-342900">
              <a:buClr>
                <a:schemeClr val="dk1"/>
              </a:buClr>
              <a:buSzPts val="1400"/>
              <a:buFont typeface="Wingdings" panose="05000000000000000000" pitchFamily="2" charset="2"/>
              <a:buChar char="v"/>
            </a:pPr>
            <a:r>
              <a:rPr lang="en-US" sz="2400" dirty="0">
                <a:latin typeface="+mj-lt"/>
              </a:rPr>
              <a:t>The main objective of this project is to design and develop an IoT-based color detection system using a color sensor that can accurately identify and differentiate colors, and transmit the detected data to an online platform for real-time monitoring, analysis, and automation applications.</a:t>
            </a:r>
          </a:p>
          <a:p>
            <a:pPr marL="443865" lvl="0" indent="-342900">
              <a:buClr>
                <a:schemeClr val="dk1"/>
              </a:buClr>
              <a:buSzPts val="1400"/>
              <a:buFont typeface="Wingdings" panose="05000000000000000000" pitchFamily="2" charset="2"/>
              <a:buChar char="v"/>
            </a:pPr>
            <a:endParaRPr lang="en-US" sz="2400" dirty="0">
              <a:solidFill>
                <a:schemeClr val="dk1"/>
              </a:solidFill>
              <a:latin typeface="+mj-lt"/>
              <a:cs typeface="Times New Roman" panose="02020603050405020304" pitchFamily="18" charset="0"/>
            </a:endParaRPr>
          </a:p>
          <a:p>
            <a:pPr marL="443865" lvl="0" indent="-342900">
              <a:buClr>
                <a:schemeClr val="dk1"/>
              </a:buClr>
              <a:buSzPts val="1400"/>
              <a:buFont typeface="Arial" panose="020B0604020202020204" pitchFamily="34" charset="0"/>
              <a:buChar char="•"/>
            </a:pPr>
            <a:r>
              <a:rPr lang="en-US" sz="2500" dirty="0">
                <a:solidFill>
                  <a:schemeClr val="dk1"/>
                </a:solidFill>
                <a:latin typeface="+mj-lt"/>
                <a:cs typeface="Times New Roman" panose="02020603050405020304" pitchFamily="18" charset="0"/>
              </a:rPr>
              <a:t>To design a PCB-based water overflow sensor that detects water levels accurately and prevents overflow automatically.</a:t>
            </a:r>
            <a:endParaRPr sz="2500" b="0" i="0" u="none" strike="noStrike" cap="none" dirty="0">
              <a:solidFill>
                <a:schemeClr val="dk1"/>
              </a:solidFill>
              <a:latin typeface="+mj-lt"/>
              <a:cs typeface="Times New Roman" panose="02020603050405020304" pitchFamily="18"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1097462" y="528476"/>
            <a:ext cx="9997076" cy="5055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HARDWARE AND SOFTWARE REQUIREMENTS</a:t>
            </a:r>
            <a:endParaRPr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3</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766057" y="1278193"/>
            <a:ext cx="4713402" cy="2625213"/>
          </a:xfrm>
          <a:prstGeom prst="rect">
            <a:avLst/>
          </a:prstGeom>
          <a:noFill/>
          <a:ln>
            <a:noFill/>
          </a:ln>
        </p:spPr>
        <p:txBody>
          <a:bodyPr spcFirstLastPara="1" wrap="square" lIns="0" tIns="12700" rIns="0" bIns="0" anchor="t" anchorCtr="0">
            <a:noAutofit/>
          </a:bodyPr>
          <a:lstStyle/>
          <a:p>
            <a:r>
              <a:rPr lang="en-IN" sz="2800" b="1" dirty="0"/>
              <a:t>Hardware Used:</a:t>
            </a:r>
          </a:p>
          <a:p>
            <a:endParaRPr lang="en-IN" sz="2800" b="1" dirty="0"/>
          </a:p>
          <a:p>
            <a:pPr marL="457200" indent="-457200">
              <a:buFont typeface="Wingdings" panose="05000000000000000000" pitchFamily="2" charset="2"/>
              <a:buChar char="v"/>
            </a:pPr>
            <a:r>
              <a:rPr lang="en-IN" sz="2000" dirty="0"/>
              <a:t>TCS3200 colour sensor, </a:t>
            </a:r>
            <a:r>
              <a:rPr lang="en-IN" sz="2000" dirty="0" err="1"/>
              <a:t>NodeMCU</a:t>
            </a:r>
            <a:r>
              <a:rPr lang="en-IN" sz="2000" dirty="0"/>
              <a:t>/</a:t>
            </a:r>
            <a:r>
              <a:rPr lang="en-IN" sz="2000" dirty="0" err="1"/>
              <a:t>Aurdino</a:t>
            </a:r>
            <a:r>
              <a:rPr lang="en-IN" sz="2000" dirty="0"/>
              <a:t> , Wi-Fi module, power supply, jumper wires, breadboard, and display (optional).</a:t>
            </a:r>
          </a:p>
          <a:p>
            <a:pPr marL="457200" indent="-457200">
              <a:buFont typeface="Wingdings" panose="05000000000000000000" pitchFamily="2" charset="2"/>
              <a:buChar char="v"/>
            </a:pPr>
            <a:endParaRPr lang="en-IN" sz="2000" dirty="0"/>
          </a:p>
          <a:p>
            <a:r>
              <a:rPr lang="en-US" sz="2800" b="1" dirty="0"/>
              <a:t>Software Used:</a:t>
            </a:r>
          </a:p>
          <a:p>
            <a:pPr marL="457200" indent="-457200">
              <a:buFont typeface="Wingdings" panose="05000000000000000000" pitchFamily="2" charset="2"/>
              <a:buChar char="v"/>
            </a:pPr>
            <a:endParaRPr lang="en-US" sz="2800" b="1" dirty="0"/>
          </a:p>
          <a:p>
            <a:pPr marL="457200" indent="-457200">
              <a:buFont typeface="Wingdings" panose="05000000000000000000" pitchFamily="2" charset="2"/>
              <a:buChar char="v"/>
            </a:pPr>
            <a:r>
              <a:rPr lang="en-US" sz="2000" dirty="0"/>
              <a:t>Arduino , dashboard, and Embedded C programming.</a:t>
            </a:r>
          </a:p>
          <a:p>
            <a:pPr marL="457200" indent="-457200">
              <a:buFont typeface="Wingdings" panose="05000000000000000000" pitchFamily="2" charset="2"/>
              <a:buChar char="v"/>
            </a:pPr>
            <a:endParaRPr lang="en-IN" sz="2800" dirty="0"/>
          </a:p>
        </p:txBody>
      </p:sp>
    </p:spTree>
    <p:extLst>
      <p:ext uri="{BB962C8B-B14F-4D97-AF65-F5344CB8AC3E}">
        <p14:creationId xmlns:p14="http://schemas.microsoft.com/office/powerpoint/2010/main" val="1548877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528695" y="562610"/>
            <a:ext cx="5134610" cy="504825"/>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BLOCK DIAGRAM</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4</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5" name="Arrow: Down 4">
            <a:extLst>
              <a:ext uri="{FF2B5EF4-FFF2-40B4-BE49-F238E27FC236}">
                <a16:creationId xmlns:a16="http://schemas.microsoft.com/office/drawing/2014/main" id="{C3288D98-62D2-9A48-E665-EE22228E2EDA}"/>
              </a:ext>
            </a:extLst>
          </p:cNvPr>
          <p:cNvSpPr/>
          <p:nvPr/>
        </p:nvSpPr>
        <p:spPr>
          <a:xfrm>
            <a:off x="6369831" y="2162769"/>
            <a:ext cx="45719" cy="5604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Down 5">
            <a:extLst>
              <a:ext uri="{FF2B5EF4-FFF2-40B4-BE49-F238E27FC236}">
                <a16:creationId xmlns:a16="http://schemas.microsoft.com/office/drawing/2014/main" id="{C06C7C59-B830-1348-2B8C-9E17B89D5565}"/>
              </a:ext>
            </a:extLst>
          </p:cNvPr>
          <p:cNvSpPr/>
          <p:nvPr/>
        </p:nvSpPr>
        <p:spPr>
          <a:xfrm>
            <a:off x="6369831" y="3186578"/>
            <a:ext cx="45719" cy="5604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Down 7">
            <a:extLst>
              <a:ext uri="{FF2B5EF4-FFF2-40B4-BE49-F238E27FC236}">
                <a16:creationId xmlns:a16="http://schemas.microsoft.com/office/drawing/2014/main" id="{C76CDEB0-97F5-F936-3950-0288B19CFAA0}"/>
              </a:ext>
            </a:extLst>
          </p:cNvPr>
          <p:cNvSpPr/>
          <p:nvPr/>
        </p:nvSpPr>
        <p:spPr>
          <a:xfrm rot="16200000">
            <a:off x="4152995" y="2654190"/>
            <a:ext cx="45719" cy="5604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Down 8">
            <a:extLst>
              <a:ext uri="{FF2B5EF4-FFF2-40B4-BE49-F238E27FC236}">
                <a16:creationId xmlns:a16="http://schemas.microsoft.com/office/drawing/2014/main" id="{76B95484-7673-1750-6FD8-71F9BD28AAF5}"/>
              </a:ext>
            </a:extLst>
          </p:cNvPr>
          <p:cNvSpPr/>
          <p:nvPr/>
        </p:nvSpPr>
        <p:spPr>
          <a:xfrm>
            <a:off x="6359999" y="4221448"/>
            <a:ext cx="45719" cy="5604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DE1C063-5C23-AEF5-E068-DBC41E22CFBB}"/>
              </a:ext>
            </a:extLst>
          </p:cNvPr>
          <p:cNvSpPr/>
          <p:nvPr/>
        </p:nvSpPr>
        <p:spPr>
          <a:xfrm>
            <a:off x="4558974" y="1834580"/>
            <a:ext cx="3736259" cy="3484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b="1" dirty="0"/>
              <a:t>                TCS3200 </a:t>
            </a:r>
            <a:r>
              <a:rPr lang="en-IN" b="1" dirty="0" err="1"/>
              <a:t>Color</a:t>
            </a:r>
            <a:r>
              <a:rPr lang="en-IN" b="1" dirty="0"/>
              <a:t> Sensor</a:t>
            </a:r>
          </a:p>
        </p:txBody>
      </p:sp>
      <p:sp>
        <p:nvSpPr>
          <p:cNvPr id="11" name="Rectangle 10">
            <a:extLst>
              <a:ext uri="{FF2B5EF4-FFF2-40B4-BE49-F238E27FC236}">
                <a16:creationId xmlns:a16="http://schemas.microsoft.com/office/drawing/2014/main" id="{438BEC10-1EA6-6777-D744-5F58862020D2}"/>
              </a:ext>
            </a:extLst>
          </p:cNvPr>
          <p:cNvSpPr/>
          <p:nvPr/>
        </p:nvSpPr>
        <p:spPr>
          <a:xfrm>
            <a:off x="4475739" y="2763651"/>
            <a:ext cx="3788184" cy="3872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b="1" dirty="0"/>
          </a:p>
          <a:p>
            <a:pPr algn="ctr"/>
            <a:r>
              <a:rPr lang="en-IN" b="1" dirty="0"/>
              <a:t>  ESP-32</a:t>
            </a:r>
          </a:p>
          <a:p>
            <a:r>
              <a:rPr lang="en-IN" b="1" dirty="0"/>
              <a:t>  </a:t>
            </a:r>
          </a:p>
        </p:txBody>
      </p:sp>
      <p:sp>
        <p:nvSpPr>
          <p:cNvPr id="14" name="Rectangle 13">
            <a:extLst>
              <a:ext uri="{FF2B5EF4-FFF2-40B4-BE49-F238E27FC236}">
                <a16:creationId xmlns:a16="http://schemas.microsoft.com/office/drawing/2014/main" id="{63C1449E-4197-C0EE-C0BA-BF1FEC93F85D}"/>
              </a:ext>
            </a:extLst>
          </p:cNvPr>
          <p:cNvSpPr/>
          <p:nvPr/>
        </p:nvSpPr>
        <p:spPr>
          <a:xfrm>
            <a:off x="4456074" y="3784920"/>
            <a:ext cx="3788184" cy="424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 SERIAL MONITOR</a:t>
            </a:r>
            <a:endParaRPr lang="en-IN" b="1" dirty="0">
              <a:ln w="22225">
                <a:solidFill>
                  <a:schemeClr val="accent2"/>
                </a:solidFill>
                <a:prstDash val="solid"/>
              </a:ln>
              <a:solidFill>
                <a:schemeClr val="accent2">
                  <a:lumMod val="40000"/>
                  <a:lumOff val="60000"/>
                </a:schemeClr>
              </a:solidFill>
            </a:endParaRPr>
          </a:p>
        </p:txBody>
      </p:sp>
      <p:sp>
        <p:nvSpPr>
          <p:cNvPr id="15" name="Rectangle 14">
            <a:extLst>
              <a:ext uri="{FF2B5EF4-FFF2-40B4-BE49-F238E27FC236}">
                <a16:creationId xmlns:a16="http://schemas.microsoft.com/office/drawing/2014/main" id="{90B03CCB-6F4B-5F3C-0059-31745F3400E8}"/>
              </a:ext>
            </a:extLst>
          </p:cNvPr>
          <p:cNvSpPr/>
          <p:nvPr/>
        </p:nvSpPr>
        <p:spPr>
          <a:xfrm>
            <a:off x="4501701" y="4843066"/>
            <a:ext cx="3716596" cy="3927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IoT Platform &amp; Dashboard</a:t>
            </a:r>
            <a:endParaRPr lang="en-IN" b="1" dirty="0">
              <a:ln w="22225">
                <a:solidFill>
                  <a:schemeClr val="accent2"/>
                </a:solidFill>
                <a:prstDash val="solid"/>
              </a:ln>
              <a:solidFill>
                <a:schemeClr val="accent2">
                  <a:lumMod val="40000"/>
                  <a:lumOff val="60000"/>
                </a:schemeClr>
              </a:solidFill>
            </a:endParaRPr>
          </a:p>
        </p:txBody>
      </p:sp>
      <p:sp>
        <p:nvSpPr>
          <p:cNvPr id="4" name="Rectangle 3">
            <a:extLst>
              <a:ext uri="{FF2B5EF4-FFF2-40B4-BE49-F238E27FC236}">
                <a16:creationId xmlns:a16="http://schemas.microsoft.com/office/drawing/2014/main" id="{A381BBFE-4F91-54F1-1AA1-C32FD7424402}"/>
              </a:ext>
            </a:extLst>
          </p:cNvPr>
          <p:cNvSpPr/>
          <p:nvPr/>
        </p:nvSpPr>
        <p:spPr>
          <a:xfrm>
            <a:off x="1132182" y="2699492"/>
            <a:ext cx="2743787" cy="424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 POWER SUPPLY</a:t>
            </a:r>
            <a:endParaRPr lang="en-IN" b="1" dirty="0">
              <a:ln w="22225">
                <a:solidFill>
                  <a:schemeClr val="accent2"/>
                </a:solidFill>
                <a:prstDash val="solid"/>
              </a:ln>
              <a:solidFill>
                <a:schemeClr val="accent2">
                  <a:lumMod val="40000"/>
                  <a:lumOff val="60000"/>
                </a:schemeClr>
              </a:solidFill>
            </a:endParaRPr>
          </a:p>
        </p:txBody>
      </p:sp>
      <p:sp>
        <p:nvSpPr>
          <p:cNvPr id="13" name="Arrow: Down 12">
            <a:extLst>
              <a:ext uri="{FF2B5EF4-FFF2-40B4-BE49-F238E27FC236}">
                <a16:creationId xmlns:a16="http://schemas.microsoft.com/office/drawing/2014/main" id="{989E1883-184F-F628-808E-3066DC1C1864}"/>
              </a:ext>
            </a:extLst>
          </p:cNvPr>
          <p:cNvSpPr/>
          <p:nvPr/>
        </p:nvSpPr>
        <p:spPr>
          <a:xfrm rot="5400000">
            <a:off x="8540948" y="2669915"/>
            <a:ext cx="45719" cy="5604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AFF05BBA-6242-7411-4AD7-AF96CDB204E3}"/>
              </a:ext>
            </a:extLst>
          </p:cNvPr>
          <p:cNvSpPr/>
          <p:nvPr/>
        </p:nvSpPr>
        <p:spPr>
          <a:xfrm>
            <a:off x="8863692" y="2763651"/>
            <a:ext cx="3003188" cy="3872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b="1" dirty="0"/>
          </a:p>
          <a:p>
            <a:pPr algn="ctr"/>
            <a:r>
              <a:rPr lang="en-IN" b="1" dirty="0"/>
              <a:t>  ARDIUNO CLOUD</a:t>
            </a:r>
          </a:p>
          <a:p>
            <a:r>
              <a:rPr lang="en-IN" b="1"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684145" y="562610"/>
            <a:ext cx="6823710"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SERIAL MONITOR OUTPUT</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5</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5F98727A-EC77-3867-8B41-5D55A9F77C22}"/>
              </a:ext>
            </a:extLst>
          </p:cNvPr>
          <p:cNvSpPr txBox="1"/>
          <p:nvPr/>
        </p:nvSpPr>
        <p:spPr>
          <a:xfrm>
            <a:off x="2851354" y="1586409"/>
            <a:ext cx="5869858" cy="4708981"/>
          </a:xfrm>
          <a:prstGeom prst="rect">
            <a:avLst/>
          </a:prstGeom>
          <a:noFill/>
        </p:spPr>
        <p:txBody>
          <a:bodyPr wrap="square">
            <a:spAutoFit/>
          </a:bodyPr>
          <a:lstStyle/>
          <a:p>
            <a:r>
              <a:rPr lang="en-IN" sz="2000" dirty="0"/>
              <a:t>TCS3200 Colour Sensor Initialized...</a:t>
            </a:r>
          </a:p>
          <a:p>
            <a:r>
              <a:rPr lang="en-IN" sz="2000" dirty="0"/>
              <a:t>Connecting to Wi-Fi...</a:t>
            </a:r>
          </a:p>
          <a:p>
            <a:r>
              <a:rPr lang="en-IN" sz="2000" dirty="0"/>
              <a:t>Wi-Fi Connected!</a:t>
            </a:r>
          </a:p>
          <a:p>
            <a:r>
              <a:rPr lang="en-IN" sz="2000" dirty="0"/>
              <a:t>Sending data to IoT Platform...</a:t>
            </a:r>
          </a:p>
          <a:p>
            <a:endParaRPr lang="en-IN" sz="2000" dirty="0"/>
          </a:p>
          <a:p>
            <a:r>
              <a:rPr lang="en-IN" sz="2000" dirty="0"/>
              <a:t>Red: 125   Green: 98   Blue: 110</a:t>
            </a:r>
          </a:p>
          <a:p>
            <a:r>
              <a:rPr lang="en-IN" sz="2000" dirty="0"/>
              <a:t>Detected </a:t>
            </a:r>
            <a:r>
              <a:rPr lang="en-IN" sz="2000" dirty="0" err="1"/>
              <a:t>Color</a:t>
            </a:r>
            <a:r>
              <a:rPr lang="en-IN" sz="2000" dirty="0"/>
              <a:t>: RED</a:t>
            </a:r>
          </a:p>
          <a:p>
            <a:r>
              <a:rPr lang="en-IN" sz="2000" dirty="0"/>
              <a:t>-------------------------</a:t>
            </a:r>
          </a:p>
          <a:p>
            <a:r>
              <a:rPr lang="en-IN" sz="2000" dirty="0"/>
              <a:t>Red: 78    Green: 120  Blue: 65</a:t>
            </a:r>
          </a:p>
          <a:p>
            <a:r>
              <a:rPr lang="en-IN" sz="2000" dirty="0"/>
              <a:t>Detected </a:t>
            </a:r>
            <a:r>
              <a:rPr lang="en-IN" sz="2000" dirty="0" err="1"/>
              <a:t>Color</a:t>
            </a:r>
            <a:r>
              <a:rPr lang="en-IN" sz="2000" dirty="0"/>
              <a:t>: GREEN</a:t>
            </a:r>
          </a:p>
          <a:p>
            <a:r>
              <a:rPr lang="en-IN" sz="2000" dirty="0"/>
              <a:t>-------------------------</a:t>
            </a:r>
          </a:p>
          <a:p>
            <a:r>
              <a:rPr lang="en-IN" sz="2000" dirty="0"/>
              <a:t>Red: 90    Green: 95   Blue: 180</a:t>
            </a:r>
          </a:p>
          <a:p>
            <a:r>
              <a:rPr lang="en-IN" sz="2000" dirty="0"/>
              <a:t>Detected </a:t>
            </a:r>
            <a:r>
              <a:rPr lang="en-IN" sz="2000" dirty="0" err="1"/>
              <a:t>Color</a:t>
            </a:r>
            <a:r>
              <a:rPr lang="en-IN" sz="2000" dirty="0"/>
              <a:t>: BLUE</a:t>
            </a:r>
          </a:p>
          <a:p>
            <a:r>
              <a:rPr lang="en-IN" sz="2000" dirty="0"/>
              <a:t>-------------------------</a:t>
            </a:r>
          </a:p>
          <a:p>
            <a:r>
              <a:rPr lang="en-IN" sz="2000" dirty="0"/>
              <a:t>Data sent to </a:t>
            </a:r>
            <a:r>
              <a:rPr lang="en-IN" sz="2000" dirty="0" err="1"/>
              <a:t>ThingSpeak</a:t>
            </a:r>
            <a:r>
              <a:rPr lang="en-IN" sz="2000" dirty="0"/>
              <a:t> successfully!</a:t>
            </a:r>
          </a:p>
        </p:txBody>
      </p:sp>
    </p:spTree>
    <p:extLst>
      <p:ext uri="{BB962C8B-B14F-4D97-AF65-F5344CB8AC3E}">
        <p14:creationId xmlns:p14="http://schemas.microsoft.com/office/powerpoint/2010/main" val="355287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705100" y="394979"/>
            <a:ext cx="6781800"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DASHBOARD</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6</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pic>
        <p:nvPicPr>
          <p:cNvPr id="3" name="Picture 2">
            <a:extLst>
              <a:ext uri="{FF2B5EF4-FFF2-40B4-BE49-F238E27FC236}">
                <a16:creationId xmlns:a16="http://schemas.microsoft.com/office/drawing/2014/main" id="{438C82CD-7C6B-8304-B2A6-DFB4FA2CFE6E}"/>
              </a:ext>
            </a:extLst>
          </p:cNvPr>
          <p:cNvPicPr>
            <a:picLocks noChangeAspect="1"/>
          </p:cNvPicPr>
          <p:nvPr/>
        </p:nvPicPr>
        <p:blipFill>
          <a:blip r:embed="rId3"/>
          <a:stretch>
            <a:fillRect/>
          </a:stretch>
        </p:blipFill>
        <p:spPr>
          <a:xfrm>
            <a:off x="4191915" y="1386348"/>
            <a:ext cx="3808170" cy="4807974"/>
          </a:xfrm>
          <a:prstGeom prst="rect">
            <a:avLst/>
          </a:prstGeom>
        </p:spPr>
      </p:pic>
    </p:spTree>
    <p:extLst>
      <p:ext uri="{BB962C8B-B14F-4D97-AF65-F5344CB8AC3E}">
        <p14:creationId xmlns:p14="http://schemas.microsoft.com/office/powerpoint/2010/main" val="1730517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4170395" y="528476"/>
            <a:ext cx="3851211"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7</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240521" y="1410595"/>
            <a:ext cx="10647600" cy="5001635"/>
          </a:xfrm>
          <a:prstGeom prst="rect">
            <a:avLst/>
          </a:prstGeom>
          <a:noFill/>
          <a:ln>
            <a:noFill/>
          </a:ln>
        </p:spPr>
        <p:txBody>
          <a:bodyPr spcFirstLastPara="1" wrap="square" lIns="0" tIns="12700" rIns="0" bIns="0" anchor="t" anchorCtr="0">
            <a:noAutofit/>
          </a:bodyPr>
          <a:lstStyle/>
          <a:p>
            <a:pPr marL="443865" lvl="0" indent="-342900">
              <a:buClr>
                <a:schemeClr val="dk1"/>
              </a:buClr>
              <a:buSzPts val="1400"/>
              <a:buFont typeface="Wingdings" panose="05000000000000000000" pitchFamily="2" charset="2"/>
              <a:buChar char="v"/>
            </a:pPr>
            <a:r>
              <a:rPr lang="en-US" sz="2400" dirty="0"/>
              <a:t>The IoT </a:t>
            </a:r>
            <a:r>
              <a:rPr lang="en-US" sz="2400" dirty="0" err="1"/>
              <a:t>Colour</a:t>
            </a:r>
            <a:r>
              <a:rPr lang="en-US" sz="2400" dirty="0"/>
              <a:t> Sensor Detection project successfully detects and identifies colors using the TCS3200 sensor and sends the data to an IoT platform for real-time monitoring. This system demonstrates how IoT and sensor technology can be combined for automation, quality control, and smart applications in industries and daily life.</a:t>
            </a:r>
          </a:p>
          <a:p>
            <a:pPr marL="443865" lvl="0" indent="-342900">
              <a:buClr>
                <a:schemeClr val="dk1"/>
              </a:buClr>
              <a:buSzPts val="1400"/>
              <a:buFont typeface="Wingdings" panose="05000000000000000000" pitchFamily="2" charset="2"/>
              <a:buChar char="v"/>
            </a:pPr>
            <a:endParaRPr lang="en-US" sz="2400" dirty="0"/>
          </a:p>
          <a:p>
            <a:pPr marL="443865" lvl="0" indent="-342900">
              <a:buClr>
                <a:schemeClr val="dk1"/>
              </a:buClr>
              <a:buSzPts val="1400"/>
              <a:buFont typeface="Wingdings" panose="05000000000000000000" pitchFamily="2" charset="2"/>
              <a:buChar char="v"/>
            </a:pPr>
            <a:endParaRPr lang="en-US" sz="2400" dirty="0"/>
          </a:p>
          <a:p>
            <a:pPr marL="443865" lvl="0" indent="-342900">
              <a:buClr>
                <a:schemeClr val="dk1"/>
              </a:buClr>
              <a:buSzPts val="1400"/>
              <a:buFont typeface="Wingdings" panose="05000000000000000000" pitchFamily="2" charset="2"/>
              <a:buChar char="v"/>
            </a:pPr>
            <a:r>
              <a:rPr lang="en-US" sz="2400" dirty="0">
                <a:solidFill>
                  <a:schemeClr val="dk1"/>
                </a:solidFill>
                <a:latin typeface="Times New Roman" panose="02020603050405020304" pitchFamily="18" charset="0"/>
                <a:cs typeface="Times New Roman" panose="02020603050405020304" pitchFamily="18" charset="0"/>
              </a:rPr>
              <a:t>The RCB Water Overflow Sensor effectively detects and prevents water overflow by continuously monitoring the water level in tanks or reservoirs. This system ensures efficient water usage, reduces wastage, and protects electrical components from damage. It offers a simple, low-cost, and reliable solution for both domestic and industrial water management.</a:t>
            </a:r>
          </a:p>
        </p:txBody>
      </p:sp>
    </p:spTree>
    <p:extLst>
      <p:ext uri="{BB962C8B-B14F-4D97-AF65-F5344CB8AC3E}">
        <p14:creationId xmlns:p14="http://schemas.microsoft.com/office/powerpoint/2010/main" val="2996421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0"/>
          <p:cNvSpPr txBox="1">
            <a:spLocks noGrp="1"/>
          </p:cNvSpPr>
          <p:nvPr>
            <p:ph type="title"/>
          </p:nvPr>
        </p:nvSpPr>
        <p:spPr>
          <a:xfrm>
            <a:off x="2022475" y="2750675"/>
            <a:ext cx="8862300" cy="997800"/>
          </a:xfrm>
          <a:prstGeom prst="rect">
            <a:avLst/>
          </a:prstGeom>
          <a:noFill/>
          <a:ln>
            <a:noFill/>
          </a:ln>
        </p:spPr>
        <p:txBody>
          <a:bodyPr spcFirstLastPara="1" wrap="square" lIns="0" tIns="12700" rIns="0" bIns="0" anchor="t" anchorCtr="0">
            <a:noAutofit/>
          </a:bodyPr>
          <a:lstStyle/>
          <a:p>
            <a:pPr marL="120650" lvl="0" indent="0" algn="ctr" rtl="0">
              <a:lnSpc>
                <a:spcPct val="100000"/>
              </a:lnSpc>
              <a:spcBef>
                <a:spcPts val="0"/>
              </a:spcBef>
              <a:spcAft>
                <a:spcPts val="0"/>
              </a:spcAft>
              <a:buSzPts val="1400"/>
              <a:buNone/>
            </a:pPr>
            <a:r>
              <a:rPr lang="en-US">
                <a:solidFill>
                  <a:srgbClr val="FF0000"/>
                </a:solidFill>
                <a:latin typeface="Times New Roman" panose="02020603050405020304" pitchFamily="18" charset="0"/>
                <a:cs typeface="Times New Roman" panose="02020603050405020304" pitchFamily="18" charset="0"/>
              </a:rPr>
              <a:t>THANK YOU</a:t>
            </a:r>
            <a:endParaRPr>
              <a:solidFill>
                <a:srgbClr val="FF0000"/>
              </a:solidFill>
              <a:latin typeface="Times New Roman" panose="02020603050405020304" pitchFamily="18" charset="0"/>
              <a:cs typeface="Times New Roman" panose="02020603050405020304" pitchFamily="18" charset="0"/>
            </a:endParaRPr>
          </a:p>
        </p:txBody>
      </p:sp>
      <p:sp>
        <p:nvSpPr>
          <p:cNvPr id="121" name="Google Shape;121;p10"/>
          <p:cNvSpPr txBox="1">
            <a:spLocks noGrp="1"/>
          </p:cNvSpPr>
          <p:nvPr>
            <p:ph type="sldNum" idx="12"/>
          </p:nvPr>
        </p:nvSpPr>
        <p:spPr>
          <a:xfrm>
            <a:off x="10713466" y="6514900"/>
            <a:ext cx="566100" cy="321306"/>
          </a:xfrm>
          <a:prstGeom prst="rect">
            <a:avLst/>
          </a:prstGeom>
          <a:noFill/>
          <a:ln>
            <a:noFill/>
          </a:ln>
        </p:spPr>
        <p:txBody>
          <a:bodyPr spcFirstLastPara="1" wrap="square" lIns="0" tIns="0" rIns="0" bIns="0" anchor="t" anchorCtr="0">
            <a:spAutoFit/>
          </a:bodyPr>
          <a:lstStyle/>
          <a:p>
            <a:pPr marL="38100" lvl="0" indent="0" algn="l" rtl="0">
              <a:lnSpc>
                <a:spcPct val="116000"/>
              </a:lnSpc>
              <a:spcBef>
                <a:spcPts val="0"/>
              </a:spcBef>
              <a:spcAft>
                <a:spcPts val="0"/>
              </a:spcAft>
              <a:buSzPts val="1800"/>
              <a:buNone/>
            </a:pPr>
            <a:fld id="{00000000-1234-1234-1234-123412341234}" type="slidenum">
              <a:rPr lang="en-US">
                <a:latin typeface="Times New Roman" panose="02020603050405020304" pitchFamily="18" charset="0"/>
                <a:cs typeface="Times New Roman" panose="02020603050405020304" pitchFamily="18" charset="0"/>
              </a:rPr>
              <a:t>8</a:t>
            </a:fld>
            <a:endParaRPr>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377</Words>
  <Application>Microsoft Office PowerPoint</Application>
  <PresentationFormat>Widescreen</PresentationFormat>
  <Paragraphs>64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 WATER OVERFLOW SENSOR AND COLOUR SENSOR DETECTOR  </vt:lpstr>
      <vt:lpstr>OBJECTIVE</vt:lpstr>
      <vt:lpstr>HARDWARE AND SOFTWARE REQUIREMENTS</vt:lpstr>
      <vt:lpstr>BLOCK DIAGRAM</vt:lpstr>
      <vt:lpstr>SERIAL MONITOR OUTPUT</vt:lpstr>
      <vt:lpstr>DASHBOARD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Gokul Senthilkumar</dc:creator>
  <cp:lastModifiedBy>PRIYA</cp:lastModifiedBy>
  <cp:revision>21</cp:revision>
  <dcterms:created xsi:type="dcterms:W3CDTF">2023-02-03T06:11:18Z</dcterms:created>
  <dcterms:modified xsi:type="dcterms:W3CDTF">2025-11-12T04:41:24Z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CCA21B7555E24D3FB40348EB3CE2AD24</vt:lpwstr>
  </property>
  <property fmtid="{D5CDD505-2E9C-101B-9397-08002B2CF9AE}" pid="4" name="KSOProductBuildVer">
    <vt:lpwstr>1033-11.2.0.11440</vt:lpwstr>
  </property>
</Properties>
</file>